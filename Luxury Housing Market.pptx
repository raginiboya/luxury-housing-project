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3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33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99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3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4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12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38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52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59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2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16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06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01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80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841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1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5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6469574-605E-4217-8D77-BAC50E21203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C1FBA76-F50D-4779-88DF-FA2E36927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8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0C6D-DC95-659D-0B2B-88C75EDBC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091381"/>
            <a:ext cx="8825658" cy="2677648"/>
          </a:xfrm>
        </p:spPr>
        <p:txBody>
          <a:bodyPr/>
          <a:lstStyle/>
          <a:p>
            <a:r>
              <a:rPr lang="en-US" sz="4000" b="1" dirty="0"/>
              <a:t>Luxury Housing Market </a:t>
            </a:r>
            <a:br>
              <a:rPr lang="en-US" sz="4000" b="1" dirty="0"/>
            </a:br>
            <a:r>
              <a:rPr lang="en-US" sz="4000" b="1" dirty="0"/>
              <a:t>Analysis Dashboard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381B4-B316-B88B-7890-2DCECA47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961303"/>
            <a:ext cx="8825658" cy="861420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Developed Using Python, SQL, and Power BI</a:t>
            </a:r>
            <a:br>
              <a:rPr lang="en-US" sz="1100" b="1" u="sng" dirty="0"/>
            </a:br>
            <a:endParaRPr lang="en-US" sz="1100" b="1" u="sng" dirty="0"/>
          </a:p>
          <a:p>
            <a:r>
              <a:rPr lang="en-US" sz="900" b="1" dirty="0">
                <a:solidFill>
                  <a:schemeClr val="bg1"/>
                </a:solidFill>
              </a:rPr>
              <a:t>Name</a:t>
            </a:r>
            <a:r>
              <a:rPr lang="en-US" sz="900" dirty="0">
                <a:solidFill>
                  <a:schemeClr val="bg1"/>
                </a:solidFill>
              </a:rPr>
              <a:t>: Ragini Boya 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Course</a:t>
            </a:r>
            <a:r>
              <a:rPr lang="en-US" sz="900" dirty="0">
                <a:solidFill>
                  <a:schemeClr val="bg1"/>
                </a:solidFill>
              </a:rPr>
              <a:t>: Data Science – GUVI  </a:t>
            </a:r>
          </a:p>
          <a:p>
            <a:r>
              <a:rPr lang="en-US" sz="900" b="1" dirty="0">
                <a:solidFill>
                  <a:schemeClr val="bg1"/>
                </a:solidFill>
              </a:rPr>
              <a:t>Project Type</a:t>
            </a:r>
            <a:r>
              <a:rPr lang="en-US" sz="900" dirty="0">
                <a:solidFill>
                  <a:schemeClr val="bg1"/>
                </a:solidFill>
              </a:rPr>
              <a:t>: End-to-End Data Analytics Project</a:t>
            </a:r>
            <a:endParaRPr lang="en-IN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43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1896-BE54-C83C-DA88-3DAC384B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Project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2858-00BA-7FF8-3629-C770D675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of this project is to analyze luxury housing market data to identify booking trends, builder performance, and buyer behavior.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helps: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high-performing builders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Understand buyer preferences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booking patterns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Detect high-demand locations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8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072F-B7BF-48FC-CC61-187F9F2D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F2B4D-ABD9-184B-3FE4-7350BB7A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Step 1: Data Collection</a:t>
            </a:r>
          </a:p>
          <a:p>
            <a:endParaRPr lang="en-US" sz="1200" dirty="0"/>
          </a:p>
          <a:p>
            <a:r>
              <a:rPr lang="en-US" sz="1200" dirty="0"/>
              <a:t>Step 2: Data Cleaning using Python</a:t>
            </a:r>
          </a:p>
          <a:p>
            <a:endParaRPr lang="en-US" sz="1200" dirty="0"/>
          </a:p>
          <a:p>
            <a:r>
              <a:rPr lang="en-US" sz="1200" dirty="0"/>
              <a:t>Step 3: Feature Engineering</a:t>
            </a:r>
          </a:p>
          <a:p>
            <a:endParaRPr lang="en-US" sz="1200" dirty="0"/>
          </a:p>
          <a:p>
            <a:r>
              <a:rPr lang="en-US" sz="1200" dirty="0"/>
              <a:t>Step 4: Load Data into SQL Database</a:t>
            </a:r>
          </a:p>
          <a:p>
            <a:endParaRPr lang="en-US" sz="1200" dirty="0"/>
          </a:p>
          <a:p>
            <a:r>
              <a:rPr lang="en-US" sz="1200" dirty="0"/>
              <a:t>Step 5: Query Data using SQL</a:t>
            </a:r>
          </a:p>
          <a:p>
            <a:endParaRPr lang="en-US" sz="1200" dirty="0"/>
          </a:p>
          <a:p>
            <a:r>
              <a:rPr lang="en-US" sz="1200" dirty="0"/>
              <a:t>Step 6: Create Dashboard using Power BI</a:t>
            </a:r>
          </a:p>
          <a:p>
            <a:endParaRPr lang="en-US" sz="1200" dirty="0"/>
          </a:p>
          <a:p>
            <a:r>
              <a:rPr lang="en-US" sz="1200" dirty="0"/>
              <a:t>Step 7: Generate Business Insights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1278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A84A-D4FD-696A-DAA7-4DE98F4F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112B-8CE7-B656-758B-A4475B29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 was used for data cleaning and feature engineering.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Tasks Performed:</a:t>
            </a:r>
          </a:p>
          <a:p>
            <a:pPr marL="0" indent="0">
              <a:buNone/>
            </a:pPr>
            <a:r>
              <a:rPr lang="en-US" dirty="0"/>
              <a:t>• Removed missing values</a:t>
            </a:r>
          </a:p>
          <a:p>
            <a:pPr marL="0" indent="0">
              <a:buNone/>
            </a:pPr>
            <a:r>
              <a:rPr lang="en-US" dirty="0"/>
              <a:t>• Converted data types</a:t>
            </a:r>
          </a:p>
          <a:p>
            <a:pPr marL="0" indent="0">
              <a:buNone/>
            </a:pPr>
            <a:r>
              <a:rPr lang="en-US" dirty="0"/>
              <a:t>• Created new calculated columns</a:t>
            </a:r>
          </a:p>
          <a:p>
            <a:pPr marL="0" indent="0">
              <a:buNone/>
            </a:pPr>
            <a:r>
              <a:rPr lang="en-US" dirty="0"/>
              <a:t>• Prepared structured dataset</a:t>
            </a:r>
          </a:p>
          <a:p>
            <a:pPr marL="0" indent="0">
              <a:buNone/>
            </a:pPr>
            <a:r>
              <a:rPr lang="en-US" dirty="0"/>
              <a:t>• Loaded cleaned data into SQL database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83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A4DE-CDC5-9DBD-5C82-FBE89C4B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PICTURE OF DATA CLEANING IN PYTHON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EA7FB19-BAEB-9083-27F8-CD0AC2BCBB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376" r="22376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2AAB7-7314-C049-1659-55BC4981B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Here I have written codes related to data cleaning, removing missing values, conversion of data types and created new calculated columns and prepared a cleaned and structured dataset and loaded it into SQL database. </a:t>
            </a:r>
          </a:p>
        </p:txBody>
      </p:sp>
    </p:spTree>
    <p:extLst>
      <p:ext uri="{BB962C8B-B14F-4D97-AF65-F5344CB8AC3E}">
        <p14:creationId xmlns:p14="http://schemas.microsoft.com/office/powerpoint/2010/main" val="145309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6F27A-5EB4-3024-C5E6-2A91DA42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26" y="825909"/>
            <a:ext cx="5563753" cy="4229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877845-564F-8C7E-015D-43DF36C04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8" y="825909"/>
            <a:ext cx="5660839" cy="422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426325-B100-BC5F-FF0B-C69B945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Database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2E6F56-3C02-FBC7-B1DA-BD8DDD1F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SQL was used to store and manage structured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Tasks Performed:</a:t>
            </a:r>
          </a:p>
          <a:p>
            <a:pPr marL="0" indent="0">
              <a:buNone/>
            </a:pPr>
            <a:r>
              <a:rPr lang="en-US" dirty="0"/>
              <a:t>• Created database tables</a:t>
            </a:r>
          </a:p>
          <a:p>
            <a:pPr marL="0" indent="0">
              <a:buNone/>
            </a:pPr>
            <a:r>
              <a:rPr lang="en-US" dirty="0"/>
              <a:t>• Designed table schema</a:t>
            </a:r>
          </a:p>
          <a:p>
            <a:pPr marL="0" indent="0">
              <a:buNone/>
            </a:pPr>
            <a:r>
              <a:rPr lang="en-US" dirty="0"/>
              <a:t>• Inserted cleaned data</a:t>
            </a:r>
          </a:p>
          <a:p>
            <a:pPr marL="0" indent="0">
              <a:buNone/>
            </a:pPr>
            <a:r>
              <a:rPr lang="en-US" dirty="0"/>
              <a:t>• Validated data integrity</a:t>
            </a:r>
          </a:p>
          <a:p>
            <a:pPr marL="0" indent="0">
              <a:buNone/>
            </a:pPr>
            <a:r>
              <a:rPr lang="en-US" dirty="0"/>
              <a:t>• Performed aggregation queries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45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EB54A6-FB5B-5411-7870-6AC35C10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QUERIES 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C67D86A-1A5C-2526-9C41-624890C9A1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220" b="2220"/>
          <a:stretch/>
        </p:blipFill>
        <p:spPr>
          <a:xfrm>
            <a:off x="5416538" y="2224389"/>
            <a:ext cx="4827183" cy="381158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193762-7121-B2F1-35C4-B6430AC32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After loading cleaned data from python to SQL database. Here I created database tables, designed table schema and after validating the data integrity , I have performed aggregation queries with the cleaned data.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CDB047-0ABF-CB3C-EFE2-6CF7933F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38" y="1423066"/>
            <a:ext cx="4784262" cy="71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0CB93FF-0BF8-AE04-2F90-AC74DA982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62" y="676603"/>
            <a:ext cx="3224685" cy="22042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60F3B2-AAB7-608C-1BF1-EB6C75B65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334" y="693810"/>
            <a:ext cx="5179841" cy="208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C9D23-5C81-7B23-1E86-115A9CFEB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14" y="3111666"/>
            <a:ext cx="4574525" cy="29954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72B8D8-E545-EDAF-7851-05B4CDBAA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187" y="2847734"/>
            <a:ext cx="4659998" cy="346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66AB-6EC3-E5B8-C989-CD45A01B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Dashboard 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8523-EDE5-B393-48B8-3D235F4D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dashboard includes:</a:t>
            </a:r>
          </a:p>
          <a:p>
            <a:pPr marL="0" indent="0">
              <a:buNone/>
            </a:pPr>
            <a:r>
              <a:rPr lang="en-US" dirty="0"/>
              <a:t>• Market Trends Analysis  </a:t>
            </a:r>
          </a:p>
          <a:p>
            <a:pPr marL="0" indent="0">
              <a:buNone/>
            </a:pPr>
            <a:r>
              <a:rPr lang="en-US" dirty="0"/>
              <a:t>• Builder Performance Analysis  </a:t>
            </a:r>
          </a:p>
          <a:p>
            <a:pPr marL="0" indent="0">
              <a:buNone/>
            </a:pPr>
            <a:r>
              <a:rPr lang="en-US" dirty="0"/>
              <a:t>• Configuration Demand  </a:t>
            </a:r>
          </a:p>
          <a:p>
            <a:pPr marL="0" indent="0">
              <a:buNone/>
            </a:pPr>
            <a:r>
              <a:rPr lang="en-US" dirty="0"/>
              <a:t>• Booking Conversion Analysis  </a:t>
            </a:r>
          </a:p>
          <a:p>
            <a:pPr marL="0" indent="0">
              <a:buNone/>
            </a:pPr>
            <a:r>
              <a:rPr lang="en-US" dirty="0"/>
              <a:t>• Sales Channel Efficiency  </a:t>
            </a:r>
          </a:p>
          <a:p>
            <a:pPr marL="0" indent="0">
              <a:buNone/>
            </a:pPr>
            <a:r>
              <a:rPr lang="en-US" dirty="0"/>
              <a:t>• Geographical Insights  </a:t>
            </a:r>
          </a:p>
          <a:p>
            <a:pPr marL="0" indent="0">
              <a:buNone/>
            </a:pPr>
            <a:r>
              <a:rPr lang="en-US" dirty="0"/>
              <a:t>• Top Performers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134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D9AE4-2622-A211-CB10-2FCFF803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80"/>
            <a:ext cx="6283571" cy="3352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CBDBFF-ED09-5AA6-8172-6E1905E88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70" y="255640"/>
            <a:ext cx="5433179" cy="3097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BCCE54-2698-DE26-7F7C-A33E2584A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86" y="3529780"/>
            <a:ext cx="5765514" cy="32472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4746DA-9EE4-8019-CAF4-21EB70EE4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617" y="3599013"/>
            <a:ext cx="5329084" cy="30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2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FE8C6A-0D6B-DE93-62FE-A1D1299F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Business Insights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B89CB6-EB81-E7CF-16AA-8A8133B1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3BHK configuration is the most preferred housing type</a:t>
            </a:r>
          </a:p>
          <a:p>
            <a:pPr marL="0" indent="0">
              <a:buNone/>
            </a:pPr>
            <a:r>
              <a:rPr lang="en-US" dirty="0"/>
              <a:t>• Some builders dominate the market with higher revenue</a:t>
            </a:r>
          </a:p>
          <a:p>
            <a:pPr marL="0" indent="0">
              <a:buNone/>
            </a:pPr>
            <a:r>
              <a:rPr lang="en-US" dirty="0"/>
              <a:t>• Certain micro-markets show higher booking demand</a:t>
            </a:r>
          </a:p>
          <a:p>
            <a:pPr marL="0" indent="0">
              <a:buNone/>
            </a:pPr>
            <a:r>
              <a:rPr lang="en-US" dirty="0"/>
              <a:t>• Ready-to-move properties attract more buyers</a:t>
            </a:r>
          </a:p>
          <a:p>
            <a:pPr marL="0" indent="0">
              <a:buNone/>
            </a:pPr>
            <a:r>
              <a:rPr lang="en-US" dirty="0"/>
              <a:t>• Specific sales channels generate more bookings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874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DC4817-9127-96A8-591A-61BC1053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Challenges and Solutions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859933-792D-7229-67AB-850B728CAA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CHALLENGES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Handling Missing Values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Designing correct Visualizations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Applying filters correctly.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C175C-3E15-C158-BF14-24EF551584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SOLUTIONS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Cleaned data Carefully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Tested Multiple visuals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Verified data accuracy step by step.</a:t>
            </a:r>
          </a:p>
        </p:txBody>
      </p:sp>
    </p:spTree>
    <p:extLst>
      <p:ext uri="{BB962C8B-B14F-4D97-AF65-F5344CB8AC3E}">
        <p14:creationId xmlns:p14="http://schemas.microsoft.com/office/powerpoint/2010/main" val="447322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27844E-9F06-E4BD-4DAF-8E30E73A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E66DE0-16D8-BF58-EBFA-6CEF006F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successfully analyzed luxury housing data </a:t>
            </a:r>
          </a:p>
          <a:p>
            <a:pPr marL="0" indent="0">
              <a:buNone/>
            </a:pPr>
            <a:r>
              <a:rPr lang="en-US" dirty="0"/>
              <a:t>to generate meaningful insights.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dashboard helps:</a:t>
            </a:r>
          </a:p>
          <a:p>
            <a:pPr marL="0" indent="0">
              <a:buNone/>
            </a:pPr>
            <a:r>
              <a:rPr lang="en-US" dirty="0"/>
              <a:t>• Identify top-performing builders</a:t>
            </a:r>
          </a:p>
          <a:p>
            <a:pPr marL="0" indent="0">
              <a:buNone/>
            </a:pPr>
            <a:r>
              <a:rPr lang="en-US" dirty="0"/>
              <a:t>• Understand buyer preferences</a:t>
            </a:r>
          </a:p>
          <a:p>
            <a:pPr marL="0" indent="0">
              <a:buNone/>
            </a:pPr>
            <a:r>
              <a:rPr lang="en-US" dirty="0"/>
              <a:t>• Detect high-demand locations</a:t>
            </a:r>
          </a:p>
          <a:p>
            <a:pPr marL="0" indent="0">
              <a:buNone/>
            </a:pPr>
            <a:r>
              <a:rPr lang="en-US" dirty="0"/>
              <a:t>• Support business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41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422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Century Gothic</vt:lpstr>
      <vt:lpstr>Wingdings 3</vt:lpstr>
      <vt:lpstr>Ion Boardroom</vt:lpstr>
      <vt:lpstr>Luxury Housing Market  Analysis Dashboard</vt:lpstr>
      <vt:lpstr>Project Problem Statement</vt:lpstr>
      <vt:lpstr>Project Pipeline Architecture</vt:lpstr>
      <vt:lpstr>Python Data Processing</vt:lpstr>
      <vt:lpstr>PICTURE OF DATA CLEANING IN PYTHON</vt:lpstr>
      <vt:lpstr>PowerPoint Presentation</vt:lpstr>
      <vt:lpstr>SQL Database Implementation</vt:lpstr>
      <vt:lpstr>SQL QUERIES </vt:lpstr>
      <vt:lpstr>PowerPoint Presentation</vt:lpstr>
      <vt:lpstr>Key Dashboard Visuals</vt:lpstr>
      <vt:lpstr>PowerPoint Presentation</vt:lpstr>
      <vt:lpstr>Key Business Insights</vt:lpstr>
      <vt:lpstr>Challenges and Solutions</vt:lpstr>
      <vt:lpstr>Project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Ragini Boya</dc:creator>
  <cp:lastModifiedBy>Ragini Boya</cp:lastModifiedBy>
  <cp:revision>1</cp:revision>
  <dcterms:created xsi:type="dcterms:W3CDTF">2026-03-24T16:13:40Z</dcterms:created>
  <dcterms:modified xsi:type="dcterms:W3CDTF">2026-03-24T16:45:45Z</dcterms:modified>
</cp:coreProperties>
</file>